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Inter" charset="1" panose="020B0502030000000004"/>
      <p:regular r:id="rId19"/>
    </p:embeddedFont>
    <p:embeddedFont>
      <p:font typeface="Inter Bold" charset="1" panose="020B080203000000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19972" y="5847831"/>
            <a:ext cx="2092017" cy="2092017"/>
          </a:xfrm>
          <a:custGeom>
            <a:avLst/>
            <a:gdLst/>
            <a:ahLst/>
            <a:cxnLst/>
            <a:rect r="r" b="b" t="t" l="l"/>
            <a:pathLst>
              <a:path h="2092017" w="2092017">
                <a:moveTo>
                  <a:pt x="0" y="0"/>
                </a:moveTo>
                <a:lnTo>
                  <a:pt x="2092017" y="0"/>
                </a:lnTo>
                <a:lnTo>
                  <a:pt x="2092017" y="2092017"/>
                </a:lnTo>
                <a:lnTo>
                  <a:pt x="0" y="2092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028700" y="8968067"/>
            <a:ext cx="16230600" cy="41142"/>
          </a:xfrm>
          <a:prstGeom prst="rect">
            <a:avLst/>
          </a:prstGeom>
          <a:solidFill>
            <a:srgbClr val="1B1B1B"/>
          </a:solidFill>
        </p:spPr>
      </p:sp>
      <p:sp>
        <p:nvSpPr>
          <p:cNvPr name="Freeform 4" id="4"/>
          <p:cNvSpPr/>
          <p:nvPr/>
        </p:nvSpPr>
        <p:spPr>
          <a:xfrm flipH="true" flipV="false" rot="0">
            <a:off x="6581514" y="3307673"/>
            <a:ext cx="11408554" cy="12831707"/>
          </a:xfrm>
          <a:custGeom>
            <a:avLst/>
            <a:gdLst/>
            <a:ahLst/>
            <a:cxnLst/>
            <a:rect r="r" b="b" t="t" l="l"/>
            <a:pathLst>
              <a:path h="12831707" w="11408554">
                <a:moveTo>
                  <a:pt x="11408554" y="0"/>
                </a:moveTo>
                <a:lnTo>
                  <a:pt x="0" y="0"/>
                </a:lnTo>
                <a:lnTo>
                  <a:pt x="0" y="12831706"/>
                </a:lnTo>
                <a:lnTo>
                  <a:pt x="11408554" y="12831706"/>
                </a:lnTo>
                <a:lnTo>
                  <a:pt x="1140855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1844" y="7001318"/>
            <a:ext cx="6757602" cy="1819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 spc="259">
                <a:solidFill>
                  <a:srgbClr val="1B1B1B"/>
                </a:solidFill>
                <a:latin typeface="Inter"/>
                <a:ea typeface="Inter"/>
                <a:cs typeface="Inter"/>
                <a:sym typeface="Inter"/>
              </a:rPr>
              <a:t>PRESENT BY: </a:t>
            </a:r>
          </a:p>
          <a:p>
            <a:pPr algn="just">
              <a:lnSpc>
                <a:spcPts val="3639"/>
              </a:lnSpc>
            </a:pPr>
            <a:r>
              <a:rPr lang="en-US" sz="2599" spc="259">
                <a:solidFill>
                  <a:srgbClr val="1B1B1B"/>
                </a:solidFill>
                <a:latin typeface="Inter"/>
                <a:ea typeface="Inter"/>
                <a:cs typeface="Inter"/>
                <a:sym typeface="Inter"/>
              </a:rPr>
              <a:t>TE CHONG YI (SCSJ2400992)</a:t>
            </a:r>
          </a:p>
          <a:p>
            <a:pPr algn="just">
              <a:lnSpc>
                <a:spcPts val="3639"/>
              </a:lnSpc>
            </a:pPr>
            <a:r>
              <a:rPr lang="en-US" sz="2599" spc="259">
                <a:solidFill>
                  <a:srgbClr val="1B1B1B"/>
                </a:solidFill>
                <a:latin typeface="Inter"/>
                <a:ea typeface="Inter"/>
                <a:cs typeface="Inter"/>
                <a:sym typeface="Inter"/>
              </a:rPr>
              <a:t>CHEW ZHI XIANG (SCSJ2500184)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 spc="259">
                <a:solidFill>
                  <a:srgbClr val="1B1B1B"/>
                </a:solidFill>
                <a:latin typeface="Inter"/>
                <a:ea typeface="Inter"/>
                <a:cs typeface="Inter"/>
                <a:sym typeface="Inter"/>
              </a:rPr>
              <a:t>SAM LAI JIA XIAN (SCSJ2500239)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778897"/>
            <a:ext cx="9853978" cy="3507866"/>
            <a:chOff x="0" y="0"/>
            <a:chExt cx="13138638" cy="467715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3350"/>
              <a:ext cx="13138638" cy="3647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99"/>
                </a:lnSpc>
              </a:pPr>
              <a:r>
                <a:rPr lang="en-US" sz="6999" b="true">
                  <a:solidFill>
                    <a:srgbClr val="1B1B1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Campus Canteen Feedback Application (CCF) 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4003834"/>
              <a:ext cx="13138638" cy="6733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1B1B1B"/>
                  </a:solidFill>
                  <a:latin typeface="Inter"/>
                  <a:ea typeface="Inter"/>
                  <a:cs typeface="Inter"/>
                  <a:sym typeface="Inter"/>
                </a:rPr>
                <a:t>DIT1334</a:t>
              </a:r>
              <a:r>
                <a:rPr lang="en-US" sz="3000">
                  <a:solidFill>
                    <a:srgbClr val="1B1B1B"/>
                  </a:solidFill>
                  <a:latin typeface="Inter"/>
                  <a:ea typeface="Inter"/>
                  <a:cs typeface="Inter"/>
                  <a:sym typeface="Inter"/>
                </a:rPr>
                <a:t> Objec</a:t>
              </a:r>
              <a:r>
                <a:rPr lang="en-US" sz="3000">
                  <a:solidFill>
                    <a:srgbClr val="1B1B1B"/>
                  </a:solidFill>
                  <a:latin typeface="Inter"/>
                  <a:ea typeface="Inter"/>
                  <a:cs typeface="Inter"/>
                  <a:sym typeface="Inter"/>
                </a:rPr>
                <a:t>t-Oriented Development </a:t>
              </a:r>
            </a:p>
          </p:txBody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7667548" y="7235517"/>
            <a:ext cx="322520" cy="322520"/>
            <a:chOff x="0" y="0"/>
            <a:chExt cx="1708150" cy="17081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883" cy="1708150"/>
            </a:xfrm>
            <a:custGeom>
              <a:avLst/>
              <a:gdLst/>
              <a:ahLst/>
              <a:cxnLst/>
              <a:rect r="r" b="b" t="t" l="l"/>
              <a:pathLst>
                <a:path h="1708150" w="1706883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  <a:solidFill>
              <a:srgbClr val="1B1B1B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2876067">
            <a:off x="12848118" y="5941581"/>
            <a:ext cx="454703" cy="454703"/>
          </a:xfrm>
          <a:custGeom>
            <a:avLst/>
            <a:gdLst/>
            <a:ahLst/>
            <a:cxnLst/>
            <a:rect r="r" b="b" t="t" l="l"/>
            <a:pathLst>
              <a:path h="454703" w="454703">
                <a:moveTo>
                  <a:pt x="0" y="0"/>
                </a:moveTo>
                <a:lnTo>
                  <a:pt x="454703" y="0"/>
                </a:lnTo>
                <a:lnTo>
                  <a:pt x="454703" y="454704"/>
                </a:lnTo>
                <a:lnTo>
                  <a:pt x="0" y="454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1170242" y="3652859"/>
            <a:ext cx="263753" cy="263753"/>
            <a:chOff x="0" y="0"/>
            <a:chExt cx="1708150" cy="17081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06883" cy="1708150"/>
            </a:xfrm>
            <a:custGeom>
              <a:avLst/>
              <a:gdLst/>
              <a:ahLst/>
              <a:cxnLst/>
              <a:rect r="r" b="b" t="t" l="l"/>
              <a:pathLst>
                <a:path h="1708150" w="1706883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  <a:solidFill>
              <a:srgbClr val="4E65D9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2876067">
            <a:off x="17348372" y="4259343"/>
            <a:ext cx="264617" cy="264617"/>
          </a:xfrm>
          <a:custGeom>
            <a:avLst/>
            <a:gdLst/>
            <a:ahLst/>
            <a:cxnLst/>
            <a:rect r="r" b="b" t="t" l="l"/>
            <a:pathLst>
              <a:path h="264617" w="264617">
                <a:moveTo>
                  <a:pt x="0" y="0"/>
                </a:moveTo>
                <a:lnTo>
                  <a:pt x="264617" y="0"/>
                </a:lnTo>
                <a:lnTo>
                  <a:pt x="264617" y="264617"/>
                </a:lnTo>
                <a:lnTo>
                  <a:pt x="0" y="2646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0450924" cy="2737448"/>
            <a:chOff x="0" y="0"/>
            <a:chExt cx="13934565" cy="364993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66675"/>
              <a:ext cx="13934565" cy="26426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699"/>
                </a:lnSpc>
              </a:pPr>
              <a:r>
                <a:rPr lang="en-US" sz="6999" b="true">
                  <a:solidFill>
                    <a:srgbClr val="4E65D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Project Overview &amp; Problem Statement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015045"/>
              <a:ext cx="11515399" cy="6348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3859143"/>
            <a:ext cx="8442759" cy="2568714"/>
            <a:chOff x="0" y="0"/>
            <a:chExt cx="11257013" cy="342495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76200"/>
              <a:ext cx="11257013" cy="804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52"/>
                </a:lnSpc>
                <a:spcBef>
                  <a:spcPct val="0"/>
                </a:spcBef>
              </a:pPr>
              <a:r>
                <a:rPr lang="en-US" sz="3609" b="true">
                  <a:solidFill>
                    <a:srgbClr val="4E65D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1. Application Goal: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44936"/>
              <a:ext cx="11257013" cy="22800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78"/>
                </a:lnSpc>
                <a:spcBef>
                  <a:spcPct val="0"/>
                </a:spcBef>
              </a:pPr>
              <a:r>
                <a:rPr lang="en-US" sz="3270">
                  <a:solidFill>
                    <a:srgbClr val="1B1B1B"/>
                  </a:solidFill>
                  <a:latin typeface="Inter"/>
                  <a:ea typeface="Inter"/>
                  <a:cs typeface="Inter"/>
                  <a:sym typeface="Inter"/>
                </a:rPr>
                <a:t>To systematically collect student evaluations (ratings, tags) and g</a:t>
              </a:r>
              <a:r>
                <a:rPr lang="en-US" sz="3270">
                  <a:solidFill>
                    <a:srgbClr val="1B1B1B"/>
                  </a:solidFill>
                  <a:latin typeface="Inter"/>
                  <a:ea typeface="Inter"/>
                  <a:cs typeface="Inter"/>
                  <a:sym typeface="Inter"/>
                </a:rPr>
                <a:t>enerate data analytics for canteen management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779826" y="3766148"/>
            <a:ext cx="7479474" cy="3034233"/>
            <a:chOff x="0" y="0"/>
            <a:chExt cx="9972632" cy="4045645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76200"/>
              <a:ext cx="9972632" cy="8051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39"/>
                </a:lnSpc>
                <a:spcBef>
                  <a:spcPct val="0"/>
                </a:spcBef>
              </a:pPr>
              <a:r>
                <a:rPr lang="en-US" sz="3599" b="true">
                  <a:solidFill>
                    <a:srgbClr val="4E65D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2. Pain Point: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090143"/>
              <a:ext cx="9972632" cy="29555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1B1B1B"/>
                  </a:solidFill>
                  <a:latin typeface="Inter"/>
                  <a:ea typeface="Inter"/>
                  <a:cs typeface="Inter"/>
                  <a:sym typeface="Inter"/>
                </a:rPr>
                <a:t>Existing methods (verbal/paper forms) are fragmented, inconsistent, and lack structure, leading to an inability </a:t>
              </a:r>
              <a:r>
                <a:rPr lang="en-US" sz="3200">
                  <a:solidFill>
                    <a:srgbClr val="1B1B1B"/>
                  </a:solidFill>
                  <a:latin typeface="Inter"/>
                  <a:ea typeface="Inter"/>
                  <a:cs typeface="Inter"/>
                  <a:sym typeface="Inter"/>
                </a:rPr>
                <a:t>to analyze student preferences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rot="0">
            <a:off x="1028700" y="8968067"/>
            <a:ext cx="16230600" cy="41142"/>
          </a:xfrm>
          <a:prstGeom prst="rect">
            <a:avLst/>
          </a:prstGeom>
          <a:solidFill>
            <a:srgbClr val="1B1B1B"/>
          </a:solidFill>
        </p:spPr>
      </p:sp>
      <p:sp>
        <p:nvSpPr>
          <p:cNvPr name="TextBox 12" id="12"/>
          <p:cNvSpPr txBox="true"/>
          <p:nvPr/>
        </p:nvSpPr>
        <p:spPr>
          <a:xfrm rot="0">
            <a:off x="1028700" y="9454346"/>
            <a:ext cx="2260316" cy="31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1B1B1B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509264" y="-297613"/>
            <a:ext cx="1769497" cy="1769497"/>
          </a:xfrm>
          <a:custGeom>
            <a:avLst/>
            <a:gdLst/>
            <a:ahLst/>
            <a:cxnLst/>
            <a:rect r="r" b="b" t="t" l="l"/>
            <a:pathLst>
              <a:path h="1769497" w="1769497">
                <a:moveTo>
                  <a:pt x="0" y="0"/>
                </a:moveTo>
                <a:lnTo>
                  <a:pt x="1769497" y="0"/>
                </a:lnTo>
                <a:lnTo>
                  <a:pt x="1769497" y="1769497"/>
                </a:lnTo>
                <a:lnTo>
                  <a:pt x="0" y="1769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5293982" y="510935"/>
            <a:ext cx="351483" cy="351483"/>
            <a:chOff x="0" y="0"/>
            <a:chExt cx="1708150" cy="17081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06883" cy="1708150"/>
            </a:xfrm>
            <a:custGeom>
              <a:avLst/>
              <a:gdLst/>
              <a:ahLst/>
              <a:cxnLst/>
              <a:rect r="r" b="b" t="t" l="l"/>
              <a:pathLst>
                <a:path h="1708150" w="1706883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  <a:solidFill>
              <a:srgbClr val="4E65D9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2876067">
            <a:off x="10985329" y="1066245"/>
            <a:ext cx="988590" cy="988590"/>
          </a:xfrm>
          <a:custGeom>
            <a:avLst/>
            <a:gdLst/>
            <a:ahLst/>
            <a:cxnLst/>
            <a:rect r="r" b="b" t="t" l="l"/>
            <a:pathLst>
              <a:path h="988590" w="988590">
                <a:moveTo>
                  <a:pt x="0" y="0"/>
                </a:moveTo>
                <a:lnTo>
                  <a:pt x="988590" y="0"/>
                </a:lnTo>
                <a:lnTo>
                  <a:pt x="988590" y="988591"/>
                </a:lnTo>
                <a:lnTo>
                  <a:pt x="0" y="9885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2876067">
            <a:off x="17208279" y="3291535"/>
            <a:ext cx="371467" cy="371467"/>
          </a:xfrm>
          <a:custGeom>
            <a:avLst/>
            <a:gdLst/>
            <a:ahLst/>
            <a:cxnLst/>
            <a:rect r="r" b="b" t="t" l="l"/>
            <a:pathLst>
              <a:path h="371467" w="371467">
                <a:moveTo>
                  <a:pt x="0" y="0"/>
                </a:moveTo>
                <a:lnTo>
                  <a:pt x="371467" y="0"/>
                </a:lnTo>
                <a:lnTo>
                  <a:pt x="371467" y="371467"/>
                </a:lnTo>
                <a:lnTo>
                  <a:pt x="0" y="3714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3844084" y="2320252"/>
            <a:ext cx="218133" cy="218133"/>
            <a:chOff x="0" y="0"/>
            <a:chExt cx="1708150" cy="1708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06883" cy="1708150"/>
            </a:xfrm>
            <a:custGeom>
              <a:avLst/>
              <a:gdLst/>
              <a:ahLst/>
              <a:cxnLst/>
              <a:rect r="r" b="b" t="t" l="l"/>
              <a:pathLst>
                <a:path h="1708150" w="1706883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  <a:solidFill>
              <a:srgbClr val="1B1B1B"/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2966" y="2341884"/>
            <a:ext cx="5492102" cy="4474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true">
                <a:solidFill>
                  <a:srgbClr val="4E65D9"/>
                </a:solidFill>
                <a:latin typeface="Inter Bold"/>
                <a:ea typeface="Inter Bold"/>
                <a:cs typeface="Inter Bold"/>
                <a:sym typeface="Inter Bold"/>
              </a:rPr>
              <a:t>SMART</a:t>
            </a:r>
            <a:r>
              <a:rPr lang="en-US" sz="8000" b="true">
                <a:solidFill>
                  <a:srgbClr val="4E65D9"/>
                </a:solidFill>
                <a:latin typeface="Inter Bold"/>
                <a:ea typeface="Inter Bold"/>
                <a:cs typeface="Inter Bold"/>
                <a:sym typeface="Inter Bold"/>
              </a:rPr>
              <a:t> Objectives &amp; Target Users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829672" y="2436348"/>
            <a:ext cx="4628657" cy="4228668"/>
            <a:chOff x="0" y="0"/>
            <a:chExt cx="6171542" cy="563822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6171542" cy="14094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39"/>
                </a:lnSpc>
                <a:spcBef>
                  <a:spcPct val="0"/>
                </a:spcBef>
              </a:pPr>
              <a:r>
                <a:rPr lang="en-US" sz="3099" b="true">
                  <a:solidFill>
                    <a:srgbClr val="4E65D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SMART Example (Focus): 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703976"/>
              <a:ext cx="6171542" cy="3934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1B1B1B"/>
                  </a:solidFill>
                  <a:latin typeface="Inter"/>
                  <a:ea typeface="Inter"/>
                  <a:cs typeface="Inter"/>
                  <a:sym typeface="Inter"/>
                </a:rPr>
                <a:t>Establish a structured mobile platform to achieve a minimum of 10 valid feedback submissions within </a:t>
              </a:r>
              <a:r>
                <a:rPr lang="en-US" sz="2799">
                  <a:solidFill>
                    <a:srgbClr val="1B1B1B"/>
                  </a:solidFill>
                  <a:latin typeface="Inter"/>
                  <a:ea typeface="Inter"/>
                  <a:cs typeface="Inter"/>
                  <a:sym typeface="Inter"/>
                </a:rPr>
                <a:t>the first month of deployment.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248903" y="2436348"/>
            <a:ext cx="4313516" cy="3685743"/>
            <a:chOff x="0" y="0"/>
            <a:chExt cx="5751355" cy="491432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5751355" cy="685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39"/>
                </a:lnSpc>
                <a:spcBef>
                  <a:spcPct val="0"/>
                </a:spcBef>
              </a:pPr>
              <a:r>
                <a:rPr lang="en-US" sz="3099" b="true">
                  <a:solidFill>
                    <a:srgbClr val="4E65D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Target Users (PACT):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980075"/>
              <a:ext cx="5751355" cy="3934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1B1B1B"/>
                  </a:solidFill>
                  <a:latin typeface="Inter"/>
                  <a:ea typeface="Inter"/>
                  <a:cs typeface="Inter"/>
                  <a:sym typeface="Inter"/>
                </a:rPr>
                <a:t>Primary Users are Students (submitting feedback), and Secondary Users are Cafeteria Managers (reviewing charts)</a:t>
              </a:r>
            </a:p>
          </p:txBody>
        </p:sp>
      </p:grpSp>
      <p:sp>
        <p:nvSpPr>
          <p:cNvPr name="AutoShape 9" id="9"/>
          <p:cNvSpPr/>
          <p:nvPr/>
        </p:nvSpPr>
        <p:spPr>
          <a:xfrm rot="0">
            <a:off x="1028700" y="8968067"/>
            <a:ext cx="16230600" cy="41142"/>
          </a:xfrm>
          <a:prstGeom prst="rect">
            <a:avLst/>
          </a:prstGeom>
          <a:solidFill>
            <a:srgbClr val="1B1B1B"/>
          </a:solidFill>
        </p:spPr>
      </p:sp>
      <p:sp>
        <p:nvSpPr>
          <p:cNvPr name="TextBox 10" id="10"/>
          <p:cNvSpPr txBox="true"/>
          <p:nvPr/>
        </p:nvSpPr>
        <p:spPr>
          <a:xfrm rot="0">
            <a:off x="1028700" y="9454346"/>
            <a:ext cx="2260316" cy="31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1B1B1B"/>
                </a:solidFill>
                <a:latin typeface="Inter Bold"/>
                <a:ea typeface="Inter Bold"/>
                <a:cs typeface="Inter Bold"/>
                <a:sym typeface="Inter Bold"/>
              </a:rPr>
              <a:t>04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2876067">
            <a:off x="16417024" y="1222146"/>
            <a:ext cx="578743" cy="578743"/>
          </a:xfrm>
          <a:custGeom>
            <a:avLst/>
            <a:gdLst/>
            <a:ahLst/>
            <a:cxnLst/>
            <a:rect r="r" b="b" t="t" l="l"/>
            <a:pathLst>
              <a:path h="578743" w="578743">
                <a:moveTo>
                  <a:pt x="0" y="0"/>
                </a:moveTo>
                <a:lnTo>
                  <a:pt x="578742" y="0"/>
                </a:lnTo>
                <a:lnTo>
                  <a:pt x="578742" y="578743"/>
                </a:lnTo>
                <a:lnTo>
                  <a:pt x="0" y="5787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5759364" y="9481085"/>
            <a:ext cx="1611830" cy="1611830"/>
            <a:chOff x="0" y="0"/>
            <a:chExt cx="1708150" cy="17081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06883" cy="1708150"/>
            </a:xfrm>
            <a:custGeom>
              <a:avLst/>
              <a:gdLst/>
              <a:ahLst/>
              <a:cxnLst/>
              <a:rect r="r" b="b" t="t" l="l"/>
              <a:pathLst>
                <a:path h="1708150" w="1706883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  <a:solidFill>
              <a:srgbClr val="4E65D9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69919" y="-645547"/>
            <a:ext cx="1769497" cy="1769497"/>
          </a:xfrm>
          <a:custGeom>
            <a:avLst/>
            <a:gdLst/>
            <a:ahLst/>
            <a:cxnLst/>
            <a:rect r="r" b="b" t="t" l="l"/>
            <a:pathLst>
              <a:path h="1769497" w="1769497">
                <a:moveTo>
                  <a:pt x="0" y="0"/>
                </a:moveTo>
                <a:lnTo>
                  <a:pt x="1769497" y="0"/>
                </a:lnTo>
                <a:lnTo>
                  <a:pt x="1769497" y="1769497"/>
                </a:lnTo>
                <a:lnTo>
                  <a:pt x="0" y="17694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E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2966" y="2493498"/>
            <a:ext cx="5492102" cy="4474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true">
                <a:solidFill>
                  <a:srgbClr val="4E65D9"/>
                </a:solidFill>
                <a:latin typeface="Inter Bold"/>
                <a:ea typeface="Inter Bold"/>
                <a:cs typeface="Inter Bold"/>
                <a:sym typeface="Inter Bold"/>
              </a:rPr>
              <a:t>Initial Analysis:</a:t>
            </a:r>
            <a:r>
              <a:rPr lang="en-US" sz="8000" b="true">
                <a:solidFill>
                  <a:srgbClr val="4E65D9"/>
                </a:solidFill>
                <a:latin typeface="Inter Bold"/>
                <a:ea typeface="Inter Bold"/>
                <a:cs typeface="Inter Bold"/>
                <a:sym typeface="Inter Bold"/>
              </a:rPr>
              <a:t> IPO &amp; FlowChart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829672" y="1444104"/>
            <a:ext cx="4628657" cy="4703649"/>
            <a:chOff x="0" y="0"/>
            <a:chExt cx="6171542" cy="627153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6171542" cy="773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9"/>
                </a:lnSpc>
                <a:spcBef>
                  <a:spcPct val="0"/>
                </a:spcBef>
              </a:pPr>
              <a:r>
                <a:rPr lang="en-US" sz="3499" b="true">
                  <a:solidFill>
                    <a:srgbClr val="4E65D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Student Input: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068130"/>
              <a:ext cx="6171542" cy="52034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1B1B1B"/>
                  </a:solidFill>
                  <a:latin typeface="Inter"/>
                  <a:ea typeface="Inter"/>
                  <a:cs typeface="Inter"/>
                  <a:sym typeface="Inter"/>
                </a:rPr>
                <a:t>Login/register information; Dish name, rating, tags, comment; P</a:t>
              </a:r>
              <a:r>
                <a:rPr lang="en-US" sz="3199">
                  <a:solidFill>
                    <a:srgbClr val="1B1B1B"/>
                  </a:solidFill>
                  <a:latin typeface="Inter"/>
                  <a:ea typeface="Inter"/>
                  <a:cs typeface="Inter"/>
                  <a:sym typeface="Inter"/>
                </a:rPr>
                <a:t>hoto (optional) .</a:t>
              </a:r>
            </a:p>
            <a:p>
              <a:pPr algn="l">
                <a:lnSpc>
                  <a:spcPts val="4479"/>
                </a:lnSpc>
                <a:spcBef>
                  <a:spcPct val="0"/>
                </a:spcBef>
              </a:pPr>
            </a:p>
            <a:p>
              <a:pPr algn="l">
                <a:lnSpc>
                  <a:spcPts val="4479"/>
                </a:lnSpc>
                <a:spcBef>
                  <a:spcPct val="0"/>
                </a:spcBef>
              </a:pPr>
            </a:p>
            <a:p>
              <a:pPr algn="l">
                <a:lnSpc>
                  <a:spcPts val="44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29672" y="5143500"/>
            <a:ext cx="4313516" cy="3017723"/>
            <a:chOff x="0" y="0"/>
            <a:chExt cx="5751355" cy="402363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5751355" cy="773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9"/>
                </a:lnSpc>
                <a:spcBef>
                  <a:spcPct val="0"/>
                </a:spcBef>
              </a:pPr>
              <a:r>
                <a:rPr lang="en-US" sz="3499" b="true">
                  <a:solidFill>
                    <a:srgbClr val="4E65D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Student Process: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068129"/>
              <a:ext cx="5751355" cy="29555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1B1B1B"/>
                  </a:solidFill>
                  <a:latin typeface="Inter"/>
                  <a:ea typeface="Inter"/>
                  <a:cs typeface="Inter"/>
                  <a:sym typeface="Inter"/>
                </a:rPr>
                <a:t>Validate identity; Store feedback in database; Categorize and analyze data .</a:t>
              </a:r>
            </a:p>
          </p:txBody>
        </p:sp>
      </p:grpSp>
      <p:sp>
        <p:nvSpPr>
          <p:cNvPr name="AutoShape 9" id="9"/>
          <p:cNvSpPr/>
          <p:nvPr/>
        </p:nvSpPr>
        <p:spPr>
          <a:xfrm rot="0">
            <a:off x="1028700" y="8968067"/>
            <a:ext cx="16230600" cy="41142"/>
          </a:xfrm>
          <a:prstGeom prst="rect">
            <a:avLst/>
          </a:prstGeom>
          <a:solidFill>
            <a:srgbClr val="1B1B1B"/>
          </a:solidFill>
        </p:spPr>
      </p:sp>
      <p:sp>
        <p:nvSpPr>
          <p:cNvPr name="TextBox 10" id="10"/>
          <p:cNvSpPr txBox="true"/>
          <p:nvPr/>
        </p:nvSpPr>
        <p:spPr>
          <a:xfrm rot="0">
            <a:off x="1028700" y="9454346"/>
            <a:ext cx="2260316" cy="31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1B1B1B"/>
                </a:solidFill>
                <a:latin typeface="Inter Bold"/>
                <a:ea typeface="Inter Bold"/>
                <a:cs typeface="Inter Bold"/>
                <a:sym typeface="Inter Bold"/>
              </a:rPr>
              <a:t>04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2876067">
            <a:off x="16417024" y="1222146"/>
            <a:ext cx="578743" cy="578743"/>
          </a:xfrm>
          <a:custGeom>
            <a:avLst/>
            <a:gdLst/>
            <a:ahLst/>
            <a:cxnLst/>
            <a:rect r="r" b="b" t="t" l="l"/>
            <a:pathLst>
              <a:path h="578743" w="578743">
                <a:moveTo>
                  <a:pt x="0" y="0"/>
                </a:moveTo>
                <a:lnTo>
                  <a:pt x="578742" y="0"/>
                </a:lnTo>
                <a:lnTo>
                  <a:pt x="578742" y="578743"/>
                </a:lnTo>
                <a:lnTo>
                  <a:pt x="0" y="5787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5759364" y="9481085"/>
            <a:ext cx="1611830" cy="1611830"/>
            <a:chOff x="0" y="0"/>
            <a:chExt cx="1708150" cy="17081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06883" cy="1708150"/>
            </a:xfrm>
            <a:custGeom>
              <a:avLst/>
              <a:gdLst/>
              <a:ahLst/>
              <a:cxnLst/>
              <a:rect r="r" b="b" t="t" l="l"/>
              <a:pathLst>
                <a:path h="1708150" w="1706883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  <a:solidFill>
              <a:srgbClr val="4E65D9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869919" y="-645547"/>
            <a:ext cx="1769497" cy="1769497"/>
          </a:xfrm>
          <a:custGeom>
            <a:avLst/>
            <a:gdLst/>
            <a:ahLst/>
            <a:cxnLst/>
            <a:rect r="r" b="b" t="t" l="l"/>
            <a:pathLst>
              <a:path h="1769497" w="1769497">
                <a:moveTo>
                  <a:pt x="0" y="0"/>
                </a:moveTo>
                <a:lnTo>
                  <a:pt x="1769497" y="0"/>
                </a:lnTo>
                <a:lnTo>
                  <a:pt x="1769497" y="1769497"/>
                </a:lnTo>
                <a:lnTo>
                  <a:pt x="0" y="17694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248903" y="3479394"/>
            <a:ext cx="4628657" cy="2761184"/>
            <a:chOff x="0" y="0"/>
            <a:chExt cx="6171542" cy="3681578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66675"/>
              <a:ext cx="6171542" cy="773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9"/>
                </a:lnSpc>
                <a:spcBef>
                  <a:spcPct val="0"/>
                </a:spcBef>
              </a:pPr>
              <a:r>
                <a:rPr lang="en-US" sz="3499" b="true">
                  <a:solidFill>
                    <a:srgbClr val="4E65D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Flowchart Logic: 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68130"/>
              <a:ext cx="6171542" cy="26134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1B1B1B"/>
                  </a:solidFill>
                  <a:latin typeface="Inter"/>
                  <a:ea typeface="Inter"/>
                  <a:cs typeface="Inter"/>
                  <a:sym typeface="Inter"/>
                </a:rPr>
                <a:t>Application starts with Splash screen, followed by Display selection screen</a:t>
              </a:r>
              <a:r>
                <a:rPr lang="en-US" sz="2799">
                  <a:solidFill>
                    <a:srgbClr val="1B1B1B"/>
                  </a:solidFill>
                  <a:latin typeface="Inter"/>
                  <a:ea typeface="Inter"/>
                  <a:cs typeface="Inter"/>
                  <a:sym typeface="Inter"/>
                </a:rPr>
                <a:t> (Login/Register/Guest).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35444" y="744079"/>
            <a:ext cx="13417112" cy="9542921"/>
          </a:xfrm>
          <a:custGeom>
            <a:avLst/>
            <a:gdLst/>
            <a:ahLst/>
            <a:cxnLst/>
            <a:rect r="r" b="b" t="t" l="l"/>
            <a:pathLst>
              <a:path h="9542921" w="13417112">
                <a:moveTo>
                  <a:pt x="0" y="0"/>
                </a:moveTo>
                <a:lnTo>
                  <a:pt x="13417112" y="0"/>
                </a:lnTo>
                <a:lnTo>
                  <a:pt x="13417112" y="9542921"/>
                </a:lnTo>
                <a:lnTo>
                  <a:pt x="0" y="95429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454346"/>
            <a:ext cx="2260316" cy="31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1B1B1B"/>
                </a:solidFill>
                <a:latin typeface="Inter Bold"/>
                <a:ea typeface="Inter Bold"/>
                <a:cs typeface="Inter Bold"/>
                <a:sym typeface="Inter Bold"/>
              </a:rPr>
              <a:t>05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484820" y="0"/>
            <a:ext cx="5100714" cy="1488159"/>
            <a:chOff x="0" y="0"/>
            <a:chExt cx="6800952" cy="198421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85725"/>
              <a:ext cx="6800952" cy="958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019"/>
                </a:lnSpc>
                <a:spcBef>
                  <a:spcPct val="0"/>
                </a:spcBef>
              </a:pPr>
              <a:r>
                <a:rPr lang="en-US" b="true" sz="4299">
                  <a:solidFill>
                    <a:srgbClr val="4E65D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Use Case Diagram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291578"/>
              <a:ext cx="6800952" cy="6926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85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E6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4739917" y="4951874"/>
            <a:ext cx="8457789" cy="9545"/>
          </a:xfrm>
          <a:prstGeom prst="rect">
            <a:avLst/>
          </a:prstGeom>
          <a:solidFill>
            <a:srgbClr val="F9F9FA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4594800" y="4816303"/>
            <a:ext cx="290233" cy="290233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AEDFB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453825" y="756340"/>
            <a:ext cx="13033517" cy="3274607"/>
            <a:chOff x="0" y="0"/>
            <a:chExt cx="17378022" cy="436614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334295"/>
              <a:ext cx="17378022" cy="30318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800"/>
                </a:lnSpc>
              </a:pPr>
              <a:r>
                <a:rPr lang="en-US" sz="8000" b="true">
                  <a:solidFill>
                    <a:srgbClr val="F9F9F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OOP Foc</a:t>
              </a:r>
              <a:r>
                <a:rPr lang="en-US" sz="8000" b="true">
                  <a:solidFill>
                    <a:srgbClr val="F9F9F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us 1: Encapsulation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2851658" y="-66675"/>
              <a:ext cx="11674705" cy="6348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967959" y="6044291"/>
            <a:ext cx="3543916" cy="2678634"/>
            <a:chOff x="0" y="0"/>
            <a:chExt cx="4725221" cy="3571512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57150"/>
              <a:ext cx="4725221" cy="654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F9F9F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Principle: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958063"/>
              <a:ext cx="4725221" cy="26134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9F9FA"/>
                  </a:solidFill>
                  <a:latin typeface="Inter"/>
                  <a:ea typeface="Inter"/>
                  <a:cs typeface="Inter"/>
                  <a:sym typeface="Inter"/>
                </a:rPr>
                <a:t> We strictly applied the principle of encapsulation to protect core data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55250" y="6044291"/>
            <a:ext cx="4227122" cy="3669234"/>
            <a:chOff x="0" y="0"/>
            <a:chExt cx="5636163" cy="4892312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57150"/>
              <a:ext cx="5636163" cy="654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F9F9F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Security: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958063"/>
              <a:ext cx="5636163" cy="3934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9F9FA"/>
                  </a:solidFill>
                  <a:latin typeface="Inter"/>
                  <a:ea typeface="Inter"/>
                  <a:cs typeface="Inter"/>
                  <a:sym typeface="Inter"/>
                </a:rPr>
                <a:t>The password field in the User entity stores the BCrypt hash value generated by PasswordUtility.hashPassword()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065588" y="6044291"/>
            <a:ext cx="4264237" cy="3669234"/>
            <a:chOff x="0" y="0"/>
            <a:chExt cx="5685649" cy="4892312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57150"/>
              <a:ext cx="5685649" cy="654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F9F9F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Validation: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958063"/>
              <a:ext cx="5685649" cy="3934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9F9FA"/>
                  </a:solidFill>
                  <a:latin typeface="Inter"/>
                  <a:ea typeface="Inter"/>
                  <a:cs typeface="Inter"/>
                  <a:sym typeface="Inter"/>
                </a:rPr>
                <a:t>PasswordUtility.verifyPassword() encapsulates the verification logic, ensuring the security of sensitive user information.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820150" y="4802472"/>
            <a:ext cx="297323" cy="317894"/>
            <a:chOff x="0" y="0"/>
            <a:chExt cx="396430" cy="423858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4726" y="0"/>
              <a:ext cx="386978" cy="423858"/>
              <a:chOff x="0" y="0"/>
              <a:chExt cx="6350000" cy="6350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4E65D9"/>
              </a:solidFill>
            </p:spPr>
          </p:sp>
        </p:grpSp>
        <p:grpSp>
          <p:nvGrpSpPr>
            <p:cNvPr name="Group 20" id="20"/>
            <p:cNvGrpSpPr>
              <a:grpSpLocks noChangeAspect="true"/>
            </p:cNvGrpSpPr>
            <p:nvPr/>
          </p:nvGrpSpPr>
          <p:grpSpPr>
            <a:xfrm rot="0">
              <a:off x="0" y="13714"/>
              <a:ext cx="396430" cy="396430"/>
              <a:chOff x="0" y="0"/>
              <a:chExt cx="1708150" cy="170815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706883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6883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EAEDFB"/>
              </a:solidFill>
            </p:spPr>
          </p:sp>
        </p:grpSp>
      </p:grpSp>
      <p:grpSp>
        <p:nvGrpSpPr>
          <p:cNvPr name="Group 22" id="22"/>
          <p:cNvGrpSpPr/>
          <p:nvPr/>
        </p:nvGrpSpPr>
        <p:grpSpPr>
          <a:xfrm rot="0">
            <a:off x="13049045" y="4802472"/>
            <a:ext cx="297323" cy="317894"/>
            <a:chOff x="0" y="0"/>
            <a:chExt cx="396430" cy="423858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4726" y="0"/>
              <a:ext cx="386978" cy="423858"/>
              <a:chOff x="0" y="0"/>
              <a:chExt cx="6350000" cy="6350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4E65D9"/>
              </a:solidFill>
            </p:spPr>
          </p:sp>
        </p:grpSp>
        <p:grpSp>
          <p:nvGrpSpPr>
            <p:cNvPr name="Group 25" id="25"/>
            <p:cNvGrpSpPr>
              <a:grpSpLocks noChangeAspect="true"/>
            </p:cNvGrpSpPr>
            <p:nvPr/>
          </p:nvGrpSpPr>
          <p:grpSpPr>
            <a:xfrm rot="0">
              <a:off x="0" y="13714"/>
              <a:ext cx="396430" cy="396430"/>
              <a:chOff x="0" y="0"/>
              <a:chExt cx="1708150" cy="170815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706883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6883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EAEDFB"/>
              </a:solidFill>
            </p:spPr>
          </p:sp>
        </p:grpSp>
      </p:grpSp>
      <p:sp>
        <p:nvSpPr>
          <p:cNvPr name="Freeform 27" id="27"/>
          <p:cNvSpPr/>
          <p:nvPr/>
        </p:nvSpPr>
        <p:spPr>
          <a:xfrm flipH="false" flipV="false" rot="0">
            <a:off x="-740797" y="1013299"/>
            <a:ext cx="1769497" cy="1769497"/>
          </a:xfrm>
          <a:custGeom>
            <a:avLst/>
            <a:gdLst/>
            <a:ahLst/>
            <a:cxnLst/>
            <a:rect r="r" b="b" t="t" l="l"/>
            <a:pathLst>
              <a:path h="1769497" w="1769497">
                <a:moveTo>
                  <a:pt x="0" y="0"/>
                </a:moveTo>
                <a:lnTo>
                  <a:pt x="1769497" y="0"/>
                </a:lnTo>
                <a:lnTo>
                  <a:pt x="1769497" y="1769498"/>
                </a:lnTo>
                <a:lnTo>
                  <a:pt x="0" y="17694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2876067">
            <a:off x="16394125" y="1348287"/>
            <a:ext cx="222659" cy="222659"/>
          </a:xfrm>
          <a:custGeom>
            <a:avLst/>
            <a:gdLst/>
            <a:ahLst/>
            <a:cxnLst/>
            <a:rect r="r" b="b" t="t" l="l"/>
            <a:pathLst>
              <a:path h="222659" w="222659">
                <a:moveTo>
                  <a:pt x="0" y="0"/>
                </a:moveTo>
                <a:lnTo>
                  <a:pt x="222659" y="0"/>
                </a:lnTo>
                <a:lnTo>
                  <a:pt x="222659" y="222659"/>
                </a:lnTo>
                <a:lnTo>
                  <a:pt x="0" y="2226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2876067">
            <a:off x="13078895" y="9367099"/>
            <a:ext cx="527690" cy="527690"/>
          </a:xfrm>
          <a:custGeom>
            <a:avLst/>
            <a:gdLst/>
            <a:ahLst/>
            <a:cxnLst/>
            <a:rect r="r" b="b" t="t" l="l"/>
            <a:pathLst>
              <a:path h="527690" w="527690">
                <a:moveTo>
                  <a:pt x="0" y="0"/>
                </a:moveTo>
                <a:lnTo>
                  <a:pt x="527690" y="0"/>
                </a:lnTo>
                <a:lnTo>
                  <a:pt x="527690" y="527690"/>
                </a:lnTo>
                <a:lnTo>
                  <a:pt x="0" y="527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E6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4929" y="2665424"/>
            <a:ext cx="6767594" cy="3367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true">
                <a:solidFill>
                  <a:srgbClr val="F9F9FA"/>
                </a:solidFill>
                <a:latin typeface="Inter Bold"/>
                <a:ea typeface="Inter Bold"/>
                <a:cs typeface="Inter Bold"/>
                <a:sym typeface="Inter Bold"/>
              </a:rPr>
              <a:t>OOP Focu</a:t>
            </a:r>
            <a:r>
              <a:rPr lang="en-US" sz="8000" b="true">
                <a:solidFill>
                  <a:srgbClr val="F9F9FA"/>
                </a:solidFill>
                <a:latin typeface="Inter Bold"/>
                <a:ea typeface="Inter Bold"/>
                <a:cs typeface="Inter Bold"/>
                <a:sym typeface="Inter Bold"/>
              </a:rPr>
              <a:t>s 2: Abstraction (DAO Layer)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949977" y="2489044"/>
            <a:ext cx="8115300" cy="5308913"/>
            <a:chOff x="0" y="0"/>
            <a:chExt cx="10820400" cy="707855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76200"/>
              <a:ext cx="10820400" cy="7391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19"/>
                </a:lnSpc>
                <a:spcBef>
                  <a:spcPct val="0"/>
                </a:spcBef>
              </a:pPr>
              <a:r>
                <a:rPr lang="en-US" sz="3299" b="true">
                  <a:solidFill>
                    <a:srgbClr val="F9F9F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Principle: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033628"/>
              <a:ext cx="10820400" cy="2051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F9F9FA"/>
                  </a:solidFill>
                  <a:latin typeface="Inter"/>
                  <a:ea typeface="Inter"/>
                  <a:cs typeface="Inter"/>
                  <a:sym typeface="Inter"/>
                </a:rPr>
                <a:t>Abstraction is applied in the data persistence layer, hiding complex</a:t>
              </a:r>
              <a:r>
                <a:rPr lang="en-US" sz="2999">
                  <a:solidFill>
                    <a:srgbClr val="F9F9FA"/>
                  </a:solidFill>
                  <a:latin typeface="Inter"/>
                  <a:ea typeface="Inter"/>
                  <a:cs typeface="Inter"/>
                  <a:sym typeface="Inter"/>
                </a:rPr>
                <a:t> implementation details 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917672"/>
              <a:ext cx="10820400" cy="7391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19"/>
                </a:lnSpc>
                <a:spcBef>
                  <a:spcPct val="0"/>
                </a:spcBef>
              </a:pPr>
              <a:r>
                <a:rPr lang="en-US" sz="3299" b="true">
                  <a:solidFill>
                    <a:srgbClr val="F9F9F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UserDao Interface: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027500"/>
              <a:ext cx="10820400" cy="2051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F9F9FA"/>
                  </a:solidFill>
                  <a:latin typeface="Inter"/>
                  <a:ea typeface="Inter"/>
                  <a:cs typeface="Inter"/>
                  <a:sym typeface="Inter"/>
                </a:rPr>
                <a:t>Defines abstract operations such as insert(User user) and query methods (e.g., f</a:t>
              </a:r>
              <a:r>
                <a:rPr lang="en-US" sz="2999">
                  <a:solidFill>
                    <a:srgbClr val="F9F9FA"/>
                  </a:solidFill>
                  <a:latin typeface="Inter"/>
                  <a:ea typeface="Inter"/>
                  <a:cs typeface="Inter"/>
                  <a:sym typeface="Inter"/>
                </a:rPr>
                <a:t>indByUserTypeAndUserid) .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9454346"/>
            <a:ext cx="2260316" cy="31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F9F9FA"/>
                </a:solidFill>
                <a:latin typeface="Inter Bold"/>
                <a:ea typeface="Inter Bold"/>
                <a:cs typeface="Inter Bold"/>
                <a:sym typeface="Inter Bold"/>
              </a:rPr>
              <a:t>09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2876067">
            <a:off x="16121484" y="9545377"/>
            <a:ext cx="1392365" cy="1392365"/>
          </a:xfrm>
          <a:custGeom>
            <a:avLst/>
            <a:gdLst/>
            <a:ahLst/>
            <a:cxnLst/>
            <a:rect r="r" b="b" t="t" l="l"/>
            <a:pathLst>
              <a:path h="1392365" w="1392365">
                <a:moveTo>
                  <a:pt x="0" y="0"/>
                </a:moveTo>
                <a:lnTo>
                  <a:pt x="1392365" y="0"/>
                </a:lnTo>
                <a:lnTo>
                  <a:pt x="1392365" y="1392366"/>
                </a:lnTo>
                <a:lnTo>
                  <a:pt x="0" y="1392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419819" y="6032597"/>
            <a:ext cx="1769497" cy="1769497"/>
          </a:xfrm>
          <a:custGeom>
            <a:avLst/>
            <a:gdLst/>
            <a:ahLst/>
            <a:cxnLst/>
            <a:rect r="r" b="b" t="t" l="l"/>
            <a:pathLst>
              <a:path h="1769497" w="1769497">
                <a:moveTo>
                  <a:pt x="0" y="0"/>
                </a:moveTo>
                <a:lnTo>
                  <a:pt x="1769497" y="0"/>
                </a:lnTo>
                <a:lnTo>
                  <a:pt x="1769497" y="1769497"/>
                </a:lnTo>
                <a:lnTo>
                  <a:pt x="0" y="17694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E6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4929" y="2665424"/>
            <a:ext cx="6767594" cy="4474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true">
                <a:solidFill>
                  <a:srgbClr val="F9F9FA"/>
                </a:solidFill>
                <a:latin typeface="Inter Bold"/>
                <a:ea typeface="Inter Bold"/>
                <a:cs typeface="Inter Bold"/>
                <a:sym typeface="Inter Bold"/>
              </a:rPr>
              <a:t>OOP Focu</a:t>
            </a:r>
            <a:r>
              <a:rPr lang="en-US" sz="8000" b="true">
                <a:solidFill>
                  <a:srgbClr val="F9F9FA"/>
                </a:solidFill>
                <a:latin typeface="Inter Bold"/>
                <a:ea typeface="Inter Bold"/>
                <a:cs typeface="Inter Bold"/>
                <a:sym typeface="Inter Bold"/>
              </a:rPr>
              <a:t>s 2: Abstraction (Repository Layer)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432246" y="2918514"/>
            <a:ext cx="8665400" cy="6228167"/>
            <a:chOff x="0" y="0"/>
            <a:chExt cx="11553867" cy="830422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76200"/>
              <a:ext cx="11553867" cy="7840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33"/>
                </a:lnSpc>
                <a:spcBef>
                  <a:spcPct val="0"/>
                </a:spcBef>
              </a:pPr>
              <a:r>
                <a:rPr lang="en-US" sz="3523" b="true">
                  <a:solidFill>
                    <a:srgbClr val="F9F9F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UserRepository: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098042"/>
              <a:ext cx="11553867" cy="44332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4"/>
                </a:lnSpc>
                <a:spcBef>
                  <a:spcPct val="0"/>
                </a:spcBef>
              </a:pPr>
              <a:r>
                <a:rPr lang="en-US" sz="3203">
                  <a:solidFill>
                    <a:srgbClr val="F9F9FA"/>
                  </a:solidFill>
                  <a:latin typeface="Inter"/>
                  <a:ea typeface="Inter"/>
                  <a:cs typeface="Inter"/>
                  <a:sym typeface="Inter"/>
                </a:rPr>
                <a:t>Provides a unified interface uploadUser(User</a:t>
              </a:r>
              <a:r>
                <a:rPr lang="en-US" sz="3203">
                  <a:solidFill>
                    <a:srgbClr val="F9F9FA"/>
                  </a:solidFill>
                  <a:latin typeface="Inter"/>
                  <a:ea typeface="Inter"/>
                  <a:cs typeface="Inter"/>
                  <a:sym typeface="Inter"/>
                </a:rPr>
                <a:t> user) .This separates local database operations (db.userDao().insert(user)) from Firebase upload operations (userRepo.uploadUser(user)), abstracting the data persistence logic.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7600185"/>
              <a:ext cx="11553867" cy="7040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9454346"/>
            <a:ext cx="2260316" cy="31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F9F9FA"/>
                </a:solidFill>
                <a:latin typeface="Inter Bold"/>
                <a:ea typeface="Inter Bold"/>
                <a:cs typeface="Inter Bold"/>
                <a:sym typeface="Inter Bold"/>
              </a:rPr>
              <a:t>09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2876067">
            <a:off x="16121484" y="9545377"/>
            <a:ext cx="1392365" cy="1392365"/>
          </a:xfrm>
          <a:custGeom>
            <a:avLst/>
            <a:gdLst/>
            <a:ahLst/>
            <a:cxnLst/>
            <a:rect r="r" b="b" t="t" l="l"/>
            <a:pathLst>
              <a:path h="1392365" w="1392365">
                <a:moveTo>
                  <a:pt x="0" y="0"/>
                </a:moveTo>
                <a:lnTo>
                  <a:pt x="1392365" y="0"/>
                </a:lnTo>
                <a:lnTo>
                  <a:pt x="1392365" y="1392366"/>
                </a:lnTo>
                <a:lnTo>
                  <a:pt x="0" y="1392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419819" y="6032597"/>
            <a:ext cx="1769497" cy="1769497"/>
          </a:xfrm>
          <a:custGeom>
            <a:avLst/>
            <a:gdLst/>
            <a:ahLst/>
            <a:cxnLst/>
            <a:rect r="r" b="b" t="t" l="l"/>
            <a:pathLst>
              <a:path h="1769497" w="1769497">
                <a:moveTo>
                  <a:pt x="0" y="0"/>
                </a:moveTo>
                <a:lnTo>
                  <a:pt x="1769497" y="0"/>
                </a:lnTo>
                <a:lnTo>
                  <a:pt x="1769497" y="1769497"/>
                </a:lnTo>
                <a:lnTo>
                  <a:pt x="0" y="17694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9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9953255" y="1581150"/>
            <a:ext cx="40659" cy="7124700"/>
          </a:xfrm>
          <a:prstGeom prst="rect">
            <a:avLst/>
          </a:prstGeom>
          <a:solidFill>
            <a:srgbClr val="1B1B1B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028700" y="9454346"/>
            <a:ext cx="2260316" cy="31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1B1B1B"/>
                </a:solidFill>
                <a:latin typeface="Inter Bold"/>
                <a:ea typeface="Inter Bold"/>
                <a:cs typeface="Inter Bold"/>
                <a:sym typeface="Inter Bold"/>
              </a:rPr>
              <a:t>08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984884"/>
            <a:ext cx="6980592" cy="4474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true">
                <a:solidFill>
                  <a:srgbClr val="4E65D9"/>
                </a:solidFill>
                <a:latin typeface="Inter Bold"/>
                <a:ea typeface="Inter Bold"/>
                <a:cs typeface="Inter Bold"/>
                <a:sym typeface="Inter Bold"/>
              </a:rPr>
              <a:t>Ke</a:t>
            </a:r>
            <a:r>
              <a:rPr lang="en-US" sz="8000" b="true">
                <a:solidFill>
                  <a:srgbClr val="4E65D9"/>
                </a:solidFill>
                <a:latin typeface="Inter Bold"/>
                <a:ea typeface="Inter Bold"/>
                <a:cs typeface="Inter Bold"/>
                <a:sym typeface="Inter Bold"/>
              </a:rPr>
              <a:t>y Feature: User Authentication &amp; Roles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960926" y="1749162"/>
            <a:ext cx="6107874" cy="1756614"/>
            <a:chOff x="0" y="0"/>
            <a:chExt cx="8143832" cy="234215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8143832" cy="6855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39"/>
                </a:lnSpc>
                <a:spcBef>
                  <a:spcPct val="0"/>
                </a:spcBef>
              </a:pPr>
              <a:r>
                <a:rPr lang="en-US" sz="3099" b="true">
                  <a:solidFill>
                    <a:srgbClr val="4E65D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Authentication (Login):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989601"/>
              <a:ext cx="8143832" cy="13525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1B1B1B"/>
                  </a:solidFill>
                  <a:latin typeface="Inter"/>
                  <a:ea typeface="Inter"/>
                  <a:cs typeface="Inter"/>
                  <a:sym typeface="Inter"/>
                </a:rPr>
                <a:t> Provides role-based access options (Student / Admin).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60926" y="3778298"/>
            <a:ext cx="6107874" cy="2309063"/>
            <a:chOff x="0" y="0"/>
            <a:chExt cx="8143832" cy="307875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8143832" cy="685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39"/>
                </a:lnSpc>
                <a:spcBef>
                  <a:spcPct val="0"/>
                </a:spcBef>
              </a:pPr>
              <a:r>
                <a:rPr lang="en-US" sz="3099" b="true">
                  <a:solidFill>
                    <a:srgbClr val="4E65D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Registration: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980075"/>
              <a:ext cx="8143832" cy="2098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1B1B1B"/>
                  </a:solidFill>
                  <a:latin typeface="Inter"/>
                  <a:ea typeface="Inter"/>
                  <a:cs typeface="Inter"/>
                  <a:sym typeface="Inter"/>
                </a:rPr>
                <a:t>Collects necessary user identity information, including full name, student ID, and password.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60926" y="6505000"/>
            <a:ext cx="6107874" cy="2309063"/>
            <a:chOff x="0" y="0"/>
            <a:chExt cx="8143832" cy="307875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66675"/>
              <a:ext cx="8143832" cy="685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39"/>
                </a:lnSpc>
                <a:spcBef>
                  <a:spcPct val="0"/>
                </a:spcBef>
              </a:pPr>
              <a:r>
                <a:rPr lang="en-US" sz="3099" b="true">
                  <a:solidFill>
                    <a:srgbClr val="4E65D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Validation: 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980075"/>
              <a:ext cx="8143832" cy="2098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1B1B1B"/>
                  </a:solidFill>
                  <a:latin typeface="Inter"/>
                  <a:ea typeface="Inter"/>
                  <a:cs typeface="Inter"/>
                  <a:sym typeface="Inter"/>
                </a:rPr>
                <a:t>Implementation includes strict password complexity checks and profanity filtering for name fields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828468" y="2627469"/>
            <a:ext cx="290233" cy="290233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E65D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828468" y="7514415"/>
            <a:ext cx="290233" cy="290233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E65D9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824923" y="5045021"/>
            <a:ext cx="297323" cy="297323"/>
            <a:chOff x="0" y="0"/>
            <a:chExt cx="396430" cy="39643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4726" y="4726"/>
              <a:ext cx="386978" cy="386978"/>
              <a:chOff x="0" y="0"/>
              <a:chExt cx="6350000" cy="6350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9F9FA"/>
              </a:solidFill>
            </p:spPr>
          </p:sp>
        </p:grpSp>
        <p:grpSp>
          <p:nvGrpSpPr>
            <p:cNvPr name="Group 21" id="21"/>
            <p:cNvGrpSpPr>
              <a:grpSpLocks noChangeAspect="true"/>
            </p:cNvGrpSpPr>
            <p:nvPr/>
          </p:nvGrpSpPr>
          <p:grpSpPr>
            <a:xfrm rot="0">
              <a:off x="0" y="0"/>
              <a:ext cx="396430" cy="396430"/>
              <a:chOff x="0" y="0"/>
              <a:chExt cx="1708150" cy="170815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706883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6883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4E65D9"/>
              </a:solidFill>
            </p:spPr>
          </p:sp>
        </p:grp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9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9953255" y="1581150"/>
            <a:ext cx="40659" cy="7124700"/>
          </a:xfrm>
          <a:prstGeom prst="rect">
            <a:avLst/>
          </a:prstGeom>
          <a:solidFill>
            <a:srgbClr val="1B1B1B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028700" y="9454346"/>
            <a:ext cx="2260316" cy="31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1B1B1B"/>
                </a:solidFill>
                <a:latin typeface="Inter Bold"/>
                <a:ea typeface="Inter Bold"/>
                <a:cs typeface="Inter Bold"/>
                <a:sym typeface="Inter Bold"/>
              </a:rPr>
              <a:t>08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984884"/>
            <a:ext cx="6980592" cy="4474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true">
                <a:solidFill>
                  <a:srgbClr val="4E65D9"/>
                </a:solidFill>
                <a:latin typeface="Inter Bold"/>
                <a:ea typeface="Inter Bold"/>
                <a:cs typeface="Inter Bold"/>
                <a:sym typeface="Inter Bold"/>
              </a:rPr>
              <a:t> Ke</a:t>
            </a:r>
            <a:r>
              <a:rPr lang="en-US" sz="8000" b="true">
                <a:solidFill>
                  <a:srgbClr val="4E65D9"/>
                </a:solidFill>
                <a:latin typeface="Inter Bold"/>
                <a:ea typeface="Inter Bold"/>
                <a:cs typeface="Inter Bold"/>
                <a:sym typeface="Inter Bold"/>
              </a:rPr>
              <a:t>y Feature: Feedback Submission &amp; Listing 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960926" y="1632341"/>
            <a:ext cx="6107874" cy="2280489"/>
            <a:chOff x="0" y="0"/>
            <a:chExt cx="8143832" cy="304065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8143832" cy="6855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39"/>
                </a:lnSpc>
                <a:spcBef>
                  <a:spcPct val="0"/>
                </a:spcBef>
              </a:pPr>
              <a:r>
                <a:rPr lang="en-US" sz="3099" b="true">
                  <a:solidFill>
                    <a:srgbClr val="4E65D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Submission Form: 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989601"/>
              <a:ext cx="8143832" cy="2051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1B1B1B"/>
                  </a:solidFill>
                  <a:latin typeface="Inter"/>
                  <a:ea typeface="Inter"/>
                  <a:cs typeface="Inter"/>
                  <a:sym typeface="Inter"/>
                </a:rPr>
                <a:t>Fields include Dish Name, Photo (optional), Category selection, 5-star Rating, and Text Comment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60926" y="4428785"/>
            <a:ext cx="6107874" cy="3375863"/>
            <a:chOff x="0" y="0"/>
            <a:chExt cx="8143832" cy="4501151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8143832" cy="6855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39"/>
                </a:lnSpc>
                <a:spcBef>
                  <a:spcPct val="0"/>
                </a:spcBef>
              </a:pPr>
              <a:r>
                <a:rPr lang="en-US" sz="3099" b="true">
                  <a:solidFill>
                    <a:srgbClr val="4E65D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Home Page Listing: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980076"/>
              <a:ext cx="8143832" cy="3521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B1B1B"/>
                  </a:solidFill>
                  <a:latin typeface="Inter"/>
                  <a:ea typeface="Inter"/>
                  <a:cs typeface="Inter"/>
                  <a:sym typeface="Inter"/>
                </a:rPr>
                <a:t>Includes dynamic search functionality.</a:t>
              </a:r>
            </a:p>
            <a:p>
              <a:pPr algn="l" marL="647700" indent="-323850" lvl="1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1B1B1B"/>
                  </a:solidFill>
                  <a:latin typeface="Inter"/>
                  <a:ea typeface="Inter"/>
                  <a:cs typeface="Inter"/>
                  <a:sym typeface="Inter"/>
                </a:rPr>
                <a:t>Features filters (e.g., All Categories) and sorting tools.</a:t>
              </a:r>
            </a:p>
            <a:p>
              <a:pPr algn="l">
                <a:lnSpc>
                  <a:spcPts val="42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828468" y="2627469"/>
            <a:ext cx="290233" cy="290233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E65D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828468" y="7514415"/>
            <a:ext cx="290233" cy="290233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E65D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824923" y="5045021"/>
            <a:ext cx="297323" cy="297323"/>
            <a:chOff x="0" y="0"/>
            <a:chExt cx="396430" cy="39643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4726" y="4726"/>
              <a:ext cx="386978" cy="386978"/>
              <a:chOff x="0" y="0"/>
              <a:chExt cx="6350000" cy="6350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9F9FA"/>
              </a:solidFill>
            </p:spPr>
          </p:sp>
        </p:grpSp>
        <p:grpSp>
          <p:nvGrpSpPr>
            <p:cNvPr name="Group 18" id="18"/>
            <p:cNvGrpSpPr>
              <a:grpSpLocks noChangeAspect="true"/>
            </p:cNvGrpSpPr>
            <p:nvPr/>
          </p:nvGrpSpPr>
          <p:grpSpPr>
            <a:xfrm rot="0">
              <a:off x="0" y="0"/>
              <a:ext cx="396430" cy="396430"/>
              <a:chOff x="0" y="0"/>
              <a:chExt cx="1708150" cy="170815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706883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6883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4E65D9"/>
              </a:solidFill>
            </p:spPr>
          </p:sp>
        </p:grp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E6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77" y="3179219"/>
            <a:ext cx="4431679" cy="4474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true">
                <a:solidFill>
                  <a:srgbClr val="F9F9FA"/>
                </a:solidFill>
                <a:latin typeface="Inter Bold"/>
                <a:ea typeface="Inter Bold"/>
                <a:cs typeface="Inter Bold"/>
                <a:sym typeface="Inter Bold"/>
              </a:rPr>
              <a:t>Us</a:t>
            </a:r>
            <a:r>
              <a:rPr lang="en-US" sz="8000" b="true">
                <a:solidFill>
                  <a:srgbClr val="F9F9FA"/>
                </a:solidFill>
                <a:latin typeface="Inter Bold"/>
                <a:ea typeface="Inter Bold"/>
                <a:cs typeface="Inter Bold"/>
                <a:sym typeface="Inter Bold"/>
              </a:rPr>
              <a:t>ability Testing Summary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3177" y="1036146"/>
            <a:ext cx="4431679" cy="488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F9F9FA"/>
                </a:solidFill>
                <a:latin typeface="Inter"/>
                <a:ea typeface="Inter"/>
                <a:cs typeface="Inter"/>
                <a:sym typeface="Inter"/>
              </a:rPr>
              <a:t>My</a:t>
            </a:r>
            <a:r>
              <a:rPr lang="en-US" sz="2800">
                <a:solidFill>
                  <a:srgbClr val="F9F9FA"/>
                </a:solidFill>
                <a:latin typeface="Inter"/>
                <a:ea typeface="Inter"/>
                <a:cs typeface="Inter"/>
                <a:sym typeface="Inter"/>
              </a:rPr>
              <a:t> areas of expertise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205118" y="3156846"/>
            <a:ext cx="3097974" cy="3328239"/>
            <a:chOff x="0" y="0"/>
            <a:chExt cx="4130632" cy="443765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66675"/>
              <a:ext cx="4130632" cy="6855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39"/>
                </a:lnSpc>
                <a:spcBef>
                  <a:spcPct val="0"/>
                </a:spcBef>
              </a:pPr>
              <a:r>
                <a:rPr lang="en-US" sz="3099" b="true">
                  <a:solidFill>
                    <a:srgbClr val="F9F9F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Methodology: 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989601"/>
              <a:ext cx="4130632" cy="3448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F9F9FA"/>
                  </a:solidFill>
                  <a:latin typeface="Inter"/>
                  <a:ea typeface="Inter"/>
                  <a:cs typeface="Inter"/>
                  <a:sym typeface="Inter"/>
                </a:rPr>
                <a:t>Testing was conducted to assess the user-friendlines</a:t>
              </a:r>
              <a:r>
                <a:rPr lang="en-US" sz="2999">
                  <a:solidFill>
                    <a:srgbClr val="F9F9FA"/>
                  </a:solidFill>
                  <a:latin typeface="Inter"/>
                  <a:ea typeface="Inter"/>
                  <a:cs typeface="Inter"/>
                  <a:sym typeface="Inter"/>
                </a:rPr>
                <a:t>s of the application.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547313" y="3156846"/>
            <a:ext cx="3795785" cy="3328239"/>
            <a:chOff x="0" y="0"/>
            <a:chExt cx="5061047" cy="4437651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5061047" cy="6855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39"/>
                </a:lnSpc>
                <a:spcBef>
                  <a:spcPct val="0"/>
                </a:spcBef>
              </a:pPr>
              <a:r>
                <a:rPr lang="en-US" sz="3099" b="true">
                  <a:solidFill>
                    <a:srgbClr val="F9F9F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Positive Feedback: 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989601"/>
              <a:ext cx="5061047" cy="3448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F9F9FA"/>
                  </a:solidFill>
                  <a:latin typeface="Inter"/>
                  <a:ea typeface="Inter"/>
                  <a:cs typeface="Inter"/>
                  <a:sym typeface="Inter"/>
                </a:rPr>
                <a:t>Application was deemed "very easy to use" and page design was "user-friendly".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587320" y="3156846"/>
            <a:ext cx="4245986" cy="3328239"/>
            <a:chOff x="0" y="0"/>
            <a:chExt cx="5661315" cy="4437651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66675"/>
              <a:ext cx="5661315" cy="6855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39"/>
                </a:lnSpc>
                <a:spcBef>
                  <a:spcPct val="0"/>
                </a:spcBef>
              </a:pPr>
              <a:r>
                <a:rPr lang="en-US" sz="3099" b="true">
                  <a:solidFill>
                    <a:srgbClr val="F9F9F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Negative Feedback :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989601"/>
              <a:ext cx="5661315" cy="3448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697" indent="-323848" lvl="1">
                <a:lnSpc>
                  <a:spcPts val="4199"/>
                </a:lnSpc>
                <a:buFont typeface="Arial"/>
                <a:buChar char="•"/>
              </a:pPr>
              <a:r>
                <a:rPr lang="en-US" sz="2999">
                  <a:solidFill>
                    <a:srgbClr val="F9F9FA"/>
                  </a:solidFill>
                  <a:latin typeface="Inter"/>
                  <a:ea typeface="Inter"/>
                  <a:cs typeface="Inter"/>
                  <a:sym typeface="Inter"/>
                </a:rPr>
                <a:t>U</a:t>
              </a:r>
              <a:r>
                <a:rPr lang="en-US" sz="2999">
                  <a:solidFill>
                    <a:srgbClr val="F9F9FA"/>
                  </a:solidFill>
                  <a:latin typeface="Inter"/>
                  <a:ea typeface="Inter"/>
                  <a:cs typeface="Inter"/>
                  <a:sym typeface="Inter"/>
                </a:rPr>
                <a:t>sers reported the Missing On-Screen 'Back' Button was "very inconvenient".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rot="0">
            <a:off x="1028700" y="8968067"/>
            <a:ext cx="16230600" cy="41142"/>
          </a:xfrm>
          <a:prstGeom prst="rect">
            <a:avLst/>
          </a:prstGeom>
          <a:solidFill>
            <a:srgbClr val="F9F9FA"/>
          </a:solidFill>
        </p:spPr>
      </p:sp>
      <p:sp>
        <p:nvSpPr>
          <p:cNvPr name="TextBox 14" id="14"/>
          <p:cNvSpPr txBox="true"/>
          <p:nvPr/>
        </p:nvSpPr>
        <p:spPr>
          <a:xfrm rot="0">
            <a:off x="1028700" y="9454346"/>
            <a:ext cx="2260316" cy="31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F9F9FA"/>
                </a:solidFill>
                <a:latin typeface="Inter Bold"/>
                <a:ea typeface="Inter Bold"/>
                <a:cs typeface="Inter Bold"/>
                <a:sym typeface="Inter Bold"/>
              </a:rPr>
              <a:t>12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2876067">
            <a:off x="15902801" y="1058073"/>
            <a:ext cx="933593" cy="933593"/>
          </a:xfrm>
          <a:custGeom>
            <a:avLst/>
            <a:gdLst/>
            <a:ahLst/>
            <a:cxnLst/>
            <a:rect r="r" b="b" t="t" l="l"/>
            <a:pathLst>
              <a:path h="933593" w="933593">
                <a:moveTo>
                  <a:pt x="0" y="0"/>
                </a:moveTo>
                <a:lnTo>
                  <a:pt x="933593" y="0"/>
                </a:lnTo>
                <a:lnTo>
                  <a:pt x="933593" y="933594"/>
                </a:lnTo>
                <a:lnTo>
                  <a:pt x="0" y="933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5052550" y="733709"/>
            <a:ext cx="263753" cy="263753"/>
            <a:chOff x="0" y="0"/>
            <a:chExt cx="1708150" cy="17081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06883" cy="1708150"/>
            </a:xfrm>
            <a:custGeom>
              <a:avLst/>
              <a:gdLst/>
              <a:ahLst/>
              <a:cxnLst/>
              <a:rect r="r" b="b" t="t" l="l"/>
              <a:pathLst>
                <a:path h="1708150" w="1706883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  <a:solidFill>
              <a:srgbClr val="F9F9FA"/>
            </a:solid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7041534" y="-1031902"/>
            <a:ext cx="2029363" cy="2029363"/>
            <a:chOff x="0" y="0"/>
            <a:chExt cx="1708150" cy="1708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06883" cy="1708150"/>
            </a:xfrm>
            <a:custGeom>
              <a:avLst/>
              <a:gdLst/>
              <a:ahLst/>
              <a:cxnLst/>
              <a:rect r="r" b="b" t="t" l="l"/>
              <a:pathLst>
                <a:path h="1708150" w="1706883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  <a:solidFill>
              <a:srgbClr val="F9F9FA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5504856" y="9180659"/>
            <a:ext cx="1769497" cy="1769497"/>
          </a:xfrm>
          <a:custGeom>
            <a:avLst/>
            <a:gdLst/>
            <a:ahLst/>
            <a:cxnLst/>
            <a:rect r="r" b="b" t="t" l="l"/>
            <a:pathLst>
              <a:path h="1769497" w="1769497">
                <a:moveTo>
                  <a:pt x="0" y="0"/>
                </a:moveTo>
                <a:lnTo>
                  <a:pt x="1769497" y="0"/>
                </a:lnTo>
                <a:lnTo>
                  <a:pt x="1769497" y="1769497"/>
                </a:lnTo>
                <a:lnTo>
                  <a:pt x="0" y="17694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8968067"/>
            <a:ext cx="16230600" cy="41142"/>
          </a:xfrm>
          <a:prstGeom prst="rect">
            <a:avLst/>
          </a:prstGeom>
          <a:solidFill>
            <a:srgbClr val="1B1B1B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028700" y="9454346"/>
            <a:ext cx="2260316" cy="31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1B1B1B"/>
                </a:solidFill>
                <a:latin typeface="Inter Bold"/>
                <a:ea typeface="Inter Bold"/>
                <a:cs typeface="Inter Bold"/>
                <a:sym typeface="Inter Bold"/>
              </a:rPr>
              <a:t>14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-542914"/>
            <a:ext cx="6642226" cy="3143228"/>
            <a:chOff x="0" y="0"/>
            <a:chExt cx="8856301" cy="419097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159122"/>
              <a:ext cx="8856301" cy="30318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800"/>
                </a:lnSpc>
              </a:pPr>
              <a:r>
                <a:rPr lang="en-US" sz="8000" b="true">
                  <a:solidFill>
                    <a:srgbClr val="4E65D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Conclusion &amp; </a:t>
              </a:r>
              <a:r>
                <a:rPr lang="en-US" sz="8000" b="true">
                  <a:solidFill>
                    <a:srgbClr val="4E65D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Reflection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7610599" cy="6348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2938905"/>
            <a:ext cx="8542991" cy="7348095"/>
            <a:chOff x="0" y="0"/>
            <a:chExt cx="11390654" cy="979746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11390654" cy="6855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39"/>
                </a:lnSpc>
                <a:spcBef>
                  <a:spcPct val="0"/>
                </a:spcBef>
              </a:pPr>
              <a:r>
                <a:rPr lang="en-US" sz="3099" b="true">
                  <a:solidFill>
                    <a:srgbClr val="4E65D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Design Consistency: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989601"/>
              <a:ext cx="11390654" cy="2051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1B1B1B"/>
                  </a:solidFill>
                  <a:latin typeface="Inter"/>
                  <a:ea typeface="Inter"/>
                  <a:cs typeface="Inter"/>
                  <a:sym typeface="Inter"/>
                </a:rPr>
                <a:t>IPO analysis, Flowchart, and UML diagrams acted as the blueprints, ensuring the final c</a:t>
              </a:r>
              <a:r>
                <a:rPr lang="en-US" sz="2999">
                  <a:solidFill>
                    <a:srgbClr val="1B1B1B"/>
                  </a:solidFill>
                  <a:latin typeface="Inter"/>
                  <a:ea typeface="Inter"/>
                  <a:cs typeface="Inter"/>
                  <a:sym typeface="Inter"/>
                </a:rPr>
                <a:t>ode strictly adhered to the initial design.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3468420"/>
              <a:ext cx="11390654" cy="6855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39"/>
                </a:lnSpc>
                <a:spcBef>
                  <a:spcPct val="0"/>
                </a:spcBef>
              </a:pPr>
              <a:r>
                <a:rPr lang="en-US" sz="3099" b="true">
                  <a:solidFill>
                    <a:srgbClr val="4E65D9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OOP Challenges: 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4524696"/>
              <a:ext cx="11390654" cy="3448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1B1B1B"/>
                  </a:solidFill>
                  <a:latin typeface="Inter"/>
                  <a:ea typeface="Inter"/>
                  <a:cs typeface="Inter"/>
                  <a:sym typeface="Inter"/>
                </a:rPr>
                <a:t>The main challenge was applying Abstraction and Encapsulation in Java, specifically determining which variables required strict privacy and impl</a:t>
              </a:r>
              <a:r>
                <a:rPr lang="en-US" sz="2999">
                  <a:solidFill>
                    <a:srgbClr val="1B1B1B"/>
                  </a:solidFill>
                  <a:latin typeface="Inter"/>
                  <a:ea typeface="Inter"/>
                  <a:cs typeface="Inter"/>
                  <a:sym typeface="Inter"/>
                </a:rPr>
                <a:t>ementing the Repository pattern.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9323677"/>
              <a:ext cx="11390654" cy="473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200846" y="6341522"/>
            <a:ext cx="1769497" cy="1769497"/>
          </a:xfrm>
          <a:custGeom>
            <a:avLst/>
            <a:gdLst/>
            <a:ahLst/>
            <a:cxnLst/>
            <a:rect r="r" b="b" t="t" l="l"/>
            <a:pathLst>
              <a:path h="1769497" w="1769497">
                <a:moveTo>
                  <a:pt x="0" y="0"/>
                </a:moveTo>
                <a:lnTo>
                  <a:pt x="1769497" y="0"/>
                </a:lnTo>
                <a:lnTo>
                  <a:pt x="1769497" y="1769497"/>
                </a:lnTo>
                <a:lnTo>
                  <a:pt x="0" y="1769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591209" y="1674355"/>
            <a:ext cx="5133297" cy="7314283"/>
          </a:xfrm>
          <a:custGeom>
            <a:avLst/>
            <a:gdLst/>
            <a:ahLst/>
            <a:cxnLst/>
            <a:rect r="r" b="b" t="t" l="l"/>
            <a:pathLst>
              <a:path h="7314283" w="5133297">
                <a:moveTo>
                  <a:pt x="0" y="0"/>
                </a:moveTo>
                <a:lnTo>
                  <a:pt x="5133297" y="0"/>
                </a:lnTo>
                <a:lnTo>
                  <a:pt x="5133297" y="7314283"/>
                </a:lnTo>
                <a:lnTo>
                  <a:pt x="0" y="7314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2876067">
            <a:off x="12925889" y="1097418"/>
            <a:ext cx="333293" cy="333293"/>
          </a:xfrm>
          <a:custGeom>
            <a:avLst/>
            <a:gdLst/>
            <a:ahLst/>
            <a:cxnLst/>
            <a:rect r="r" b="b" t="t" l="l"/>
            <a:pathLst>
              <a:path h="333293" w="333293">
                <a:moveTo>
                  <a:pt x="0" y="0"/>
                </a:moveTo>
                <a:lnTo>
                  <a:pt x="333292" y="0"/>
                </a:lnTo>
                <a:lnTo>
                  <a:pt x="333292" y="333293"/>
                </a:lnTo>
                <a:lnTo>
                  <a:pt x="0" y="3332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1085595" y="3131262"/>
            <a:ext cx="261705" cy="261705"/>
            <a:chOff x="0" y="0"/>
            <a:chExt cx="1708150" cy="17081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06883" cy="1708150"/>
            </a:xfrm>
            <a:custGeom>
              <a:avLst/>
              <a:gdLst/>
              <a:ahLst/>
              <a:cxnLst/>
              <a:rect r="r" b="b" t="t" l="l"/>
              <a:pathLst>
                <a:path h="1708150" w="1706883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  <a:solidFill>
              <a:srgbClr val="4E65D9"/>
            </a:solidFill>
          </p:spPr>
        </p:sp>
      </p:grpSp>
      <p:sp>
        <p:nvSpPr>
          <p:cNvPr name="Freeform 18" id="18"/>
          <p:cNvSpPr/>
          <p:nvPr/>
        </p:nvSpPr>
        <p:spPr>
          <a:xfrm flipH="false" flipV="false" rot="2876067">
            <a:off x="16612659" y="7527674"/>
            <a:ext cx="223693" cy="223693"/>
          </a:xfrm>
          <a:custGeom>
            <a:avLst/>
            <a:gdLst/>
            <a:ahLst/>
            <a:cxnLst/>
            <a:rect r="r" b="b" t="t" l="l"/>
            <a:pathLst>
              <a:path h="223693" w="223693">
                <a:moveTo>
                  <a:pt x="0" y="0"/>
                </a:moveTo>
                <a:lnTo>
                  <a:pt x="223693" y="0"/>
                </a:lnTo>
                <a:lnTo>
                  <a:pt x="223693" y="223693"/>
                </a:lnTo>
                <a:lnTo>
                  <a:pt x="0" y="2236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E6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8968067"/>
            <a:ext cx="16230600" cy="41142"/>
          </a:xfrm>
          <a:prstGeom prst="rect">
            <a:avLst/>
          </a:prstGeom>
          <a:solidFill>
            <a:srgbClr val="F9F9FA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028700" y="9454346"/>
            <a:ext cx="2260316" cy="31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b="true">
                <a:solidFill>
                  <a:srgbClr val="F9F9FA"/>
                </a:solidFill>
                <a:latin typeface="Inter Bold"/>
                <a:ea typeface="Inter Bold"/>
                <a:cs typeface="Inter Bold"/>
                <a:sym typeface="Inter Bold"/>
              </a:rPr>
              <a:t>15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07106" y="3598872"/>
            <a:ext cx="13873788" cy="235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64"/>
              </a:lnSpc>
            </a:pPr>
            <a:r>
              <a:rPr lang="en-US" sz="16513" b="true">
                <a:solidFill>
                  <a:srgbClr val="F9F9FA"/>
                </a:solidFill>
                <a:latin typeface="Inter Bold"/>
                <a:ea typeface="Inter Bold"/>
                <a:cs typeface="Inter Bold"/>
                <a:sym typeface="Inter Bold"/>
              </a:rPr>
              <a:t>Thank You !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2876067">
            <a:off x="3117937" y="7638788"/>
            <a:ext cx="342159" cy="342159"/>
          </a:xfrm>
          <a:custGeom>
            <a:avLst/>
            <a:gdLst/>
            <a:ahLst/>
            <a:cxnLst/>
            <a:rect r="r" b="b" t="t" l="l"/>
            <a:pathLst>
              <a:path h="342159" w="342159">
                <a:moveTo>
                  <a:pt x="0" y="0"/>
                </a:moveTo>
                <a:lnTo>
                  <a:pt x="342159" y="0"/>
                </a:lnTo>
                <a:lnTo>
                  <a:pt x="342159" y="342159"/>
                </a:lnTo>
                <a:lnTo>
                  <a:pt x="0" y="342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876067">
            <a:off x="13362260" y="1002345"/>
            <a:ext cx="433207" cy="433207"/>
          </a:xfrm>
          <a:custGeom>
            <a:avLst/>
            <a:gdLst/>
            <a:ahLst/>
            <a:cxnLst/>
            <a:rect r="r" b="b" t="t" l="l"/>
            <a:pathLst>
              <a:path h="433207" w="433207">
                <a:moveTo>
                  <a:pt x="0" y="0"/>
                </a:moveTo>
                <a:lnTo>
                  <a:pt x="433207" y="0"/>
                </a:lnTo>
                <a:lnTo>
                  <a:pt x="433207" y="433206"/>
                </a:lnTo>
                <a:lnTo>
                  <a:pt x="0" y="4332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6694965" y="1891428"/>
            <a:ext cx="564335" cy="564335"/>
            <a:chOff x="0" y="0"/>
            <a:chExt cx="1708150" cy="17081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6883" cy="1708150"/>
            </a:xfrm>
            <a:custGeom>
              <a:avLst/>
              <a:gdLst/>
              <a:ahLst/>
              <a:cxnLst/>
              <a:rect r="r" b="b" t="t" l="l"/>
              <a:pathLst>
                <a:path h="1708150" w="1706883">
                  <a:moveTo>
                    <a:pt x="853440" y="1708150"/>
                  </a:moveTo>
                  <a:cubicBezTo>
                    <a:pt x="383540" y="1708150"/>
                    <a:pt x="0" y="1324610"/>
                    <a:pt x="0" y="853440"/>
                  </a:cubicBezTo>
                  <a:cubicBezTo>
                    <a:pt x="0" y="383540"/>
                    <a:pt x="383540" y="0"/>
                    <a:pt x="853440" y="0"/>
                  </a:cubicBezTo>
                  <a:cubicBezTo>
                    <a:pt x="1324610" y="0"/>
                    <a:pt x="1706880" y="383540"/>
                    <a:pt x="1706880" y="853440"/>
                  </a:cubicBezTo>
                  <a:cubicBezTo>
                    <a:pt x="1708150" y="1324610"/>
                    <a:pt x="1324610" y="1708150"/>
                    <a:pt x="853440" y="1708150"/>
                  </a:cubicBezTo>
                  <a:close/>
                  <a:moveTo>
                    <a:pt x="853440" y="469900"/>
                  </a:moveTo>
                  <a:cubicBezTo>
                    <a:pt x="642620" y="469900"/>
                    <a:pt x="469900" y="642620"/>
                    <a:pt x="469900" y="853440"/>
                  </a:cubicBezTo>
                  <a:cubicBezTo>
                    <a:pt x="469900" y="1064260"/>
                    <a:pt x="642620" y="1236980"/>
                    <a:pt x="853440" y="1236980"/>
                  </a:cubicBezTo>
                  <a:cubicBezTo>
                    <a:pt x="1064260" y="1236980"/>
                    <a:pt x="1236980" y="1064260"/>
                    <a:pt x="1236980" y="853440"/>
                  </a:cubicBezTo>
                  <a:cubicBezTo>
                    <a:pt x="1236980" y="642620"/>
                    <a:pt x="1065530" y="469900"/>
                    <a:pt x="853440" y="469900"/>
                  </a:cubicBezTo>
                  <a:close/>
                </a:path>
              </a:pathLst>
            </a:custGeom>
            <a:solidFill>
              <a:srgbClr val="F9F9FA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4062217" y="-637099"/>
            <a:ext cx="1769497" cy="1769497"/>
          </a:xfrm>
          <a:custGeom>
            <a:avLst/>
            <a:gdLst/>
            <a:ahLst/>
            <a:cxnLst/>
            <a:rect r="r" b="b" t="t" l="l"/>
            <a:pathLst>
              <a:path h="1769497" w="1769497">
                <a:moveTo>
                  <a:pt x="0" y="0"/>
                </a:moveTo>
                <a:lnTo>
                  <a:pt x="1769497" y="0"/>
                </a:lnTo>
                <a:lnTo>
                  <a:pt x="1769497" y="1769498"/>
                </a:lnTo>
                <a:lnTo>
                  <a:pt x="0" y="17694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DAG5Cx81hvc</dc:identifier>
  <dcterms:modified xsi:type="dcterms:W3CDTF">2011-08-01T06:04:30Z</dcterms:modified>
  <cp:revision>1</cp:revision>
  <dc:title>H2O Group (SCSJ)_Final Slides (Sep-Dec 2025)</dc:title>
</cp:coreProperties>
</file>